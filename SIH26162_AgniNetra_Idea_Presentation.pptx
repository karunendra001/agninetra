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6692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6576" bIns="36576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Basic Details of the Team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8288000" cy="45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6642080" cy="85039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Idea Title: </a:t>
            </a:r>
            <a:r>
              <a:rPr sz="1500" b="0">
                <a:solidFill>
                  <a:srgbClr val="2B2B2B"/>
                </a:solidFill>
                <a:latin typeface="Calibri"/>
              </a:rPr>
              <a:t>AgniNetra - AI-Powered Detection &amp; Classification of Industrial Fires and Persistent Thermal Sources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Ministry/Organization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National Technical Research Organisation (NTRO)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PS Code: </a:t>
            </a:r>
            <a:r>
              <a:rPr sz="1500" b="0">
                <a:solidFill>
                  <a:srgbClr val="2B2B2B"/>
                </a:solidFill>
                <a:latin typeface="Calibri"/>
              </a:rPr>
              <a:t>SIH26162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Problem Statement Title: </a:t>
            </a:r>
            <a:r>
              <a:rPr sz="1500" b="0">
                <a:solidFill>
                  <a:srgbClr val="2B2B2B"/>
                </a:solidFill>
                <a:latin typeface="Calibri"/>
              </a:rPr>
              <a:t>AI-Based Detection and Classification of Industrial Fires and Persistent Thermal Sources Using NASA FIRMS, OSM &amp; Satellite Data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Theme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Disaster Management (Software Edition)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AgniNetra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Leader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Leader Name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Institute Code (AISHE):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AISHE code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Institute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Institute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6692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6576" bIns="36576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Problem | Idea/Solution | Technology Stack | Flow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8288000" cy="45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804672"/>
            <a:ext cx="8503920" cy="4160520"/>
          </a:xfrm>
          <a:prstGeom prst="roundRect">
            <a:avLst>
              <a:gd name="adj" fmla="val 5000"/>
            </a:avLst>
          </a:prstGeom>
          <a:solidFill>
            <a:srgbClr val="FFF4EF"/>
          </a:solidFill>
          <a:ln w="1524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2000"/>
              </a:lnSpc>
              <a:spcAft>
                <a:spcPts val="7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Problem :</a:t>
            </a:r>
            <a:r>
              <a:rPr sz="1150" b="1">
                <a:solidFill>
                  <a:srgbClr val="2B2B2B"/>
                </a:solidFill>
                <a:latin typeface="Calibri"/>
              </a:rPr>
              <a:t>Anonymous hotspots: </a:t>
            </a:r>
            <a:r>
              <a:rPr sz="1150" b="0">
                <a:solidFill>
                  <a:srgbClr val="2B2B2B"/>
                </a:solidFill>
                <a:latin typeface="Calibri"/>
              </a:rPr>
              <a:t>satellites report every fire as a bare coordinate - a wildfire, a refinery blaze and a gas flare look identical.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Slow manual classification: </a:t>
            </a:r>
            <a:r>
              <a:rPr sz="1150" b="0">
                <a:solidFill>
                  <a:srgbClr val="2B2B2B"/>
                </a:solidFill>
                <a:latin typeface="Calibri"/>
              </a:rPr>
              <a:t>hours-to-days delay lets industrial fires escalate into catastrophes.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Invisible chronic polluters: </a:t>
            </a:r>
            <a:r>
              <a:rPr sz="1150" b="0">
                <a:solidFill>
                  <a:srgbClr val="2B2B2B"/>
                </a:solidFill>
                <a:latin typeface="Calibri"/>
              </a:rPr>
              <a:t>no persistence tracking - gas flares burning for weeks go unnoticed.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Data is not GIS-ready: </a:t>
            </a:r>
            <a:r>
              <a:rPr sz="1150" b="0">
                <a:solidFill>
                  <a:srgbClr val="2B2B2B"/>
                </a:solidFill>
                <a:latin typeface="Calibri"/>
              </a:rPr>
              <a:t>raw satellite feeds give agencies nothing they can drop into QGIS / Google Earth workflows.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No automatic alerting: </a:t>
            </a:r>
            <a:r>
              <a:rPr sz="1150" b="0">
                <a:solidFill>
                  <a:srgbClr val="2B2B2B"/>
                </a:solidFill>
                <a:latin typeface="Calibri"/>
              </a:rPr>
              <a:t>nobody is woken when an industrial fire ignites near a facility.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804672"/>
            <a:ext cx="8823960" cy="41605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Idea/Solution :</a:t>
            </a:r>
            <a:r>
              <a:rPr sz="1050" b="1">
                <a:solidFill>
                  <a:srgbClr val="2B2B2B"/>
                </a:solidFill>
                <a:latin typeface="Calibri"/>
              </a:rPr>
              <a:t>Real-Time Ingestion: </a:t>
            </a:r>
            <a:r>
              <a:rPr sz="1050" b="0">
                <a:solidFill>
                  <a:srgbClr val="2B2B2B"/>
                </a:solidFill>
                <a:latin typeface="Calibri"/>
              </a:rPr>
              <a:t>NASA FIRMS (VIIRS S-NPP, NOAA-20, MODIS) hotspots pulled every 10 minutes across India, de-duplicated into SQLite - 100% real satellite data, zero synthetic rows.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AI Classification (XGBoost): </a:t>
            </a:r>
            <a:r>
              <a:rPr sz="1050" b="0">
                <a:solidFill>
                  <a:srgbClr val="2B2B2B"/>
                </a:solidFill>
                <a:latin typeface="Calibri"/>
              </a:rPr>
              <a:t>each hotspot auto-classified into 6 source types (wildfire | crop burning | industrial fire | gas flare | mining | other) using 9 engineered features - brightness, FRP, day/night, persistence, distance to nearest OSM facility, land-cover. 95.4% test accuracy.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Geospatial Intelligence: </a:t>
            </a:r>
            <a:r>
              <a:rPr sz="1050" b="0">
                <a:solidFill>
                  <a:srgbClr val="2B2B2B"/>
                </a:solidFill>
                <a:latin typeface="Calibri"/>
              </a:rPr>
              <a:t>every detection auto-named with its Indian state + nearest named facility via OSM data &amp; official state boundaries - "Odisha - 0.8 km from power plant".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Real Alerting Engine: </a:t>
            </a:r>
            <a:r>
              <a:rPr sz="1050" b="0">
                <a:solidFill>
                  <a:srgbClr val="2B2B2B"/>
                </a:solidFill>
                <a:latin typeface="Calibri"/>
              </a:rPr>
              <a:t>industrial/persistent source + &gt;=85% confidence + &lt;=5 km from a named facility -&gt; instant Telegram/email alert with Google Maps link (6-h dedup). 96 alerts already fired on live data.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GIS Dashboard + Export: </a:t>
            </a:r>
            <a:r>
              <a:rPr sz="1050" b="0">
                <a:solidFill>
                  <a:srgbClr val="2B2B2B"/>
                </a:solidFill>
                <a:latin typeface="Calibri"/>
              </a:rPr>
              <a:t>React dashboard on Google satellite imagery, 10-min live refresh, filters &amp; trends; one-click GeoJSON / KML / CSV export for QGIS &amp; Google Earth.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Model Transparency: </a:t>
            </a:r>
            <a:r>
              <a:rPr sz="1050" b="0">
                <a:solidFill>
                  <a:srgbClr val="2B2B2B"/>
                </a:solidFill>
                <a:latin typeface="Calibri"/>
              </a:rPr>
              <a:t>published validation report - confusion matrix, feature importance - served via API and rendered inside the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138928"/>
            <a:ext cx="17556480" cy="914400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 w="15240">
            <a:solidFill>
              <a:srgbClr val="F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77F00"/>
                </a:solidFill>
                <a:latin typeface="Calibri"/>
              </a:rPr>
              <a:t>Technology Stack : </a:t>
            </a:r>
          </a:p>
          <a:p>
            <a:r>
              <a:rPr sz="1100" b="0">
                <a:solidFill>
                  <a:srgbClr val="2B2B2B"/>
                </a:solidFill>
                <a:latin typeface="Calibri"/>
              </a:rPr>
              <a:t>Python 3.13 | FastAPI | SQLite | XGBoost + scikit-learn | httpx | APScheduler | React (CRA) + Leaflet (Google Satellite layers) | NASA FIRMS API | OpenStreetMap Overpass | ESA WorldCover | Telegram Bot API | GeoJSON / KML /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72784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Flow Chart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NASA FIRMS API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VIIRS - NOAA-20 - MODIS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26664" y="7091172"/>
            <a:ext cx="34747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Ingestion + Dedup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every 10 minutes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34456" y="7091172"/>
            <a:ext cx="34747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457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SQLite fires.db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persistence counters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42248" y="7091172"/>
            <a:ext cx="34747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26296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7B2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Enrichment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facility dist | landcover | state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750040" y="7091172"/>
            <a:ext cx="34747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134088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XGBoost AI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6 source classes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4657832" y="7091172"/>
            <a:ext cx="347472" cy="256032"/>
          </a:xfrm>
          <a:prstGeom prst="right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041880" y="6693408"/>
            <a:ext cx="2487168" cy="1051560"/>
          </a:xfrm>
          <a:prstGeom prst="roundRect">
            <a:avLst>
              <a:gd name="adj" fmla="val 10000"/>
            </a:avLst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 REST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10+ JSON 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67176" y="7744968"/>
            <a:ext cx="36576" cy="16459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8999" y="7900416"/>
            <a:ext cx="12856463" cy="36576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3291839" y="7927848"/>
            <a:ext cx="274320" cy="256032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19" y="82296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GIS Dashboard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React + Google Satellite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006840" y="7927848"/>
            <a:ext cx="274320" cy="256032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19" y="82296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Telegram / Email Alerts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named facility + confidence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4721840" y="7927848"/>
            <a:ext cx="274320" cy="256032"/>
          </a:xfrm>
          <a:prstGeom prst="downArrow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161519" y="822960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GeoJSON | KML | CSV Export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QGIS + Google Earth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6692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6576" bIns="36576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Idea/Approach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8288000" cy="45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804672"/>
            <a:ext cx="8686800" cy="539496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3000"/>
              </a:lnSpc>
              <a:spcAft>
                <a:spcPts val="80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Use Cases :</a:t>
            </a:r>
            <a:r>
              <a:rPr sz="1150" b="1">
                <a:solidFill>
                  <a:srgbClr val="2B2B2B"/>
                </a:solidFill>
                <a:latin typeface="Calibri"/>
              </a:rPr>
              <a:t>Industrial Safety &amp; Disaster Response: </a:t>
            </a:r>
            <a:r>
              <a:rPr sz="1150" b="0">
                <a:solidFill>
                  <a:srgbClr val="2B2B2B"/>
                </a:solidFill>
                <a:latin typeface="Calibri"/>
              </a:rPr>
              <a:t>district authorities get a named alert ("Chhattisgarh - 0.6 km from refinery works") within minutes of ignition - not days.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Environmental Regulation: </a:t>
            </a:r>
            <a:r>
              <a:rPr sz="1150" b="0">
                <a:solidFill>
                  <a:srgbClr val="2B2B2B"/>
                </a:solidFill>
                <a:latin typeface="Calibri"/>
              </a:rPr>
              <a:t>pollution boards use persistence analytics (detection count + active days) to catch chronic flare operators, not one-off events.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Defense / Geospatial Intelligence: </a:t>
            </a:r>
            <a:r>
              <a:rPr sz="1150" b="0">
                <a:solidFill>
                  <a:srgbClr val="2B2B2B"/>
                </a:solidFill>
                <a:latin typeface="Calibri"/>
              </a:rPr>
              <a:t>GIS-ready KML/GeoJSON feeds plug straight into NTRO &amp; agency QGIS workflows, including sensitive border regions.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Agricultural Smoke Management: </a:t>
            </a:r>
            <a:r>
              <a:rPr sz="1150" b="0">
                <a:solidFill>
                  <a:srgbClr val="2B2B2B"/>
                </a:solidFill>
                <a:latin typeface="Calibri"/>
              </a:rPr>
              <a:t>the crop-burning class + seasonal trends let state agencies target stubble-burning crackdowns precisely.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Research &amp; Insurance Forensics: </a:t>
            </a:r>
            <a:r>
              <a:rPr sz="1150" b="0">
                <a:solidFill>
                  <a:srgbClr val="2B2B2B"/>
                </a:solidFill>
                <a:latin typeface="Calibri"/>
              </a:rPr>
              <a:t>18-column CSV export reproduces the full feature vector per hotspot for auditable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804672"/>
            <a:ext cx="8686800" cy="5394960"/>
          </a:xfrm>
          <a:prstGeom prst="roundRect">
            <a:avLst>
              <a:gd name="adj" fmla="val 5000"/>
            </a:avLst>
          </a:prstGeom>
          <a:solidFill>
            <a:srgbClr val="FFF4EF"/>
          </a:solidFill>
          <a:ln w="1524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3000"/>
              </a:lnSpc>
              <a:spcAft>
                <a:spcPts val="8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Dependencies / Show Stoppers :</a:t>
            </a:r>
            <a:r>
              <a:rPr sz="1150" b="1">
                <a:solidFill>
                  <a:srgbClr val="2B2B2B"/>
                </a:solidFill>
                <a:latin typeface="Calibri"/>
              </a:rPr>
              <a:t>NASA FIRMS cadence &amp; availability: </a:t>
            </a:r>
            <a:r>
              <a:rPr sz="1150" b="0">
                <a:solidFill>
                  <a:srgbClr val="2B2B2B"/>
                </a:solidFill>
                <a:latin typeface="Calibri"/>
              </a:rPr>
              <a:t>mitigated by de-duplication, local DB persistence, and a live "last sync" banner on the dashboard.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Land-cover coverage gap: </a:t>
            </a:r>
            <a:r>
              <a:rPr sz="1150" b="0">
                <a:solidFill>
                  <a:srgbClr val="2B2B2B"/>
                </a:solidFill>
                <a:latin typeface="Calibri"/>
              </a:rPr>
              <a:t>current lookup covers ~43% of live points; direct ESA WorldCover sampling is the scoped fix (next sprint).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Label provenance: </a:t>
            </a:r>
            <a:r>
              <a:rPr sz="1150" b="0">
                <a:solidFill>
                  <a:srgbClr val="2B2B2B"/>
                </a:solidFill>
                <a:latin typeface="Calibri"/>
              </a:rPr>
              <a:t>labels bootstrapped from a rule-based pipeline; a human-labeled subset + spatial cross-validation are planned hardening steps.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Class imbalance: </a:t>
            </a:r>
            <a:r>
              <a:rPr sz="1150" b="0">
                <a:solidFill>
                  <a:srgbClr val="2B2B2B"/>
                </a:solidFill>
                <a:latin typeface="Calibri"/>
              </a:rPr>
              <a:t>gas-flare F1 (66%) limited by a 45-row test class; more flare training data is the known fix.</a:t>
            </a:r>
          </a:p>
          <a:p>
            <a:pPr>
              <a:lnSpc>
                <a:spcPct val="103000"/>
              </a:lnSpc>
              <a:spcAft>
                <a:spcPts val="8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Live-demo connectivity: </a:t>
            </a:r>
            <a:r>
              <a:rPr sz="1150" b="0">
                <a:solidFill>
                  <a:srgbClr val="2B2B2B"/>
                </a:solidFill>
                <a:latin typeface="Calibri"/>
              </a:rPr>
              <a:t>offline fallback - pre-exported KML in Google Earth + cached SQLite snapshot.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6400800"/>
            <a:ext cx="8686800" cy="160020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Channels :</a:t>
            </a:r>
            <a:r>
              <a:rPr sz="1150" b="0">
                <a:solidFill>
                  <a:srgbClr val="2B2B2B"/>
                </a:solidFill>
                <a:latin typeface="Calibri"/>
              </a:rPr>
              <a:t>NTRO &amp; defense geospatial cells | State Pollution Control Boards | SDMA / NDMA disaster authorities | Forest departments | Refinery &amp; plant HSE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6400800"/>
            <a:ext cx="8686800" cy="160020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 w="1524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Revenue Streams :</a:t>
            </a:r>
            <a:r>
              <a:rPr sz="1150" b="0">
                <a:solidFill>
                  <a:srgbClr val="2B2B2B"/>
                </a:solidFill>
                <a:latin typeface="Calibri"/>
              </a:rPr>
              <a:t>SaaS subscription for industrial HSE compliance monitoring | API licensing to insurers / logistics / ESG analytics | Custom on-prem deployments for government agencies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566928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6576" bIns="36576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Team Member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8288000" cy="4572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6642080" cy="850392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Leader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Leader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Member 1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Member 2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Member 3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Member 4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Member 5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Branch : </a:t>
            </a:r>
            <a:r>
              <a:rPr sz="1500" b="0">
                <a:solidFill>
                  <a:srgbClr val="2B2B2B"/>
                </a:solidFill>
                <a:latin typeface="Calibri"/>
              </a:rPr>
              <a:t>B.Tech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Stream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Year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Team Mentor 1 Name: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FILL: Mentor Name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Category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Expertise 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 (e.g. AI/ML, GIS)</a:t>
            </a:r>
            <a:r>
              <a:rPr sz="1500" b="1">
                <a:solidFill>
                  <a:srgbClr val="2B2B2B"/>
                </a:solidFill>
                <a:latin typeface="Calibri"/>
              </a:rPr>
              <a:t>        Domain Experience (in years): </a:t>
            </a:r>
            <a:r>
              <a:rPr sz="1500" b="0">
                <a:solidFill>
                  <a:srgbClr val="2B2B2B"/>
                </a:solidFill>
                <a:latin typeface="Calibri"/>
              </a:rPr>
              <a:t>FILL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AgniNetra - SIH26162 Idea Presentation</dc:title>
  <dc:subject/>
  <dc:creator>Team AgniNetra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